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 nothing</c:v>
                </c:pt>
              </c:strCache>
            </c:strRef>
          </c:tx>
          <c:spPr>
            <a:solidFill>
              <a:srgbClr val="F0544A"/>
            </a:solidFill>
            <a:ln w="38100" cap="flat">
              <a:solidFill>
                <a:srgbClr val="F054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0544A"/>
              </a:solidFill>
              <a:ln w="9525" cap="flat">
                <a:solidFill>
                  <a:srgbClr val="F054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95</c:v>
                </c:pt>
                <c:pt idx="2">
                  <c:v>84</c:v>
                </c:pt>
                <c:pt idx="3">
                  <c:v>70</c:v>
                </c:pt>
                <c:pt idx="4">
                  <c:v>55</c:v>
                </c:pt>
                <c:pt idx="5">
                  <c:v>30</c:v>
                </c:pt>
                <c:pt idx="6">
                  <c:v>8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Götze action</c:v>
                </c:pt>
              </c:strCache>
            </c:strRef>
          </c:tx>
          <c:spPr>
            <a:solidFill>
              <a:srgbClr val="35C97D"/>
            </a:solidFill>
            <a:ln w="38100" cap="flat">
              <a:solidFill>
                <a:srgbClr val="35C97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5C97D"/>
              </a:solidFill>
              <a:ln w="9525" cap="flat">
                <a:solidFill>
                  <a:srgbClr val="35C97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95</c:v>
                </c:pt>
                <c:pt idx="2">
                  <c:v>84</c:v>
                </c:pt>
                <c:pt idx="3">
                  <c:v>70</c:v>
                </c:pt>
                <c:pt idx="4">
                  <c:v>55</c:v>
                </c:pt>
                <c:pt idx="5">
                  <c:v>52</c:v>
                </c:pt>
                <c:pt idx="6">
                  <c:v>49</c:v>
                </c:pt>
                <c:pt idx="7">
                  <c:v>46</c:v>
                </c:pt>
                <c:pt idx="8">
                  <c:v>44</c:v>
                </c:pt>
                <c:pt idx="9">
                  <c:v>43</c:v>
                </c:pt>
                <c:pt idx="10">
                  <c:v>42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Failure threshold</c:v>
                </c:pt>
              </c:strCache>
            </c:strRef>
          </c:tx>
          <c:spPr>
            <a:solidFill>
              <a:srgbClr val="EFA63C"/>
            </a:solidFill>
            <a:ln w="38100" cap="flat">
              <a:solidFill>
                <a:srgbClr val="EFA6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A63C"/>
              </a:solidFill>
              <a:ln w="9525" cap="flat">
                <a:solidFill>
                  <a:srgbClr val="EFA6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38</c:v>
                </c:pt>
                <c:pt idx="1">
                  <c:v>38</c:v>
                </c:pt>
                <c:pt idx="2">
                  <c:v>38</c:v>
                </c:pt>
                <c:pt idx="3">
                  <c:v>38</c:v>
                </c:pt>
                <c:pt idx="4">
                  <c:v>38</c:v>
                </c:pt>
                <c:pt idx="5">
                  <c:v>38</c:v>
                </c:pt>
                <c:pt idx="6">
                  <c:v>38</c:v>
                </c:pt>
                <c:pt idx="7">
                  <c:v>38</c:v>
                </c:pt>
                <c:pt idx="8">
                  <c:v>38</c:v>
                </c:pt>
                <c:pt idx="9">
                  <c:v>38</c:v>
                </c:pt>
                <c:pt idx="10">
                  <c:v>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377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37784"/>
                    </a:solidFill>
                    <a:latin typeface="Arial"/>
                  </a:rPr>
                  <a:t>cycles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2A4B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B3B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2A4B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926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DF3F6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1926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pPr algn="l" indent="0" marL="0">
              <a:buNone/>
            </a:pPr>
            <a:r>
              <a:rPr lang="en-US" sz="64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94360" y="3017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failure.  Decide the fix.  Prove it.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9436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Engineering Intelligence  ·  powered by the Götze Decision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4800600"/>
            <a:ext cx="164592" cy="164592"/>
          </a:xfrm>
          <a:prstGeom prst="ellipse">
            <a:avLst/>
          </a:prstGeom>
          <a:solidFill>
            <a:srgbClr val="F0544A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4800600"/>
            <a:ext cx="164592" cy="164592"/>
          </a:xfrm>
          <a:prstGeom prst="ellipse">
            <a:avLst/>
          </a:prstGeom>
          <a:solidFill>
            <a:srgbClr val="F0544A"/>
          </a:solidFill>
          <a:ln/>
        </p:spPr>
      </p:sp>
      <p:sp>
        <p:nvSpPr>
          <p:cNvPr id="7" name="Shape 5"/>
          <p:cNvSpPr/>
          <p:nvPr/>
        </p:nvSpPr>
        <p:spPr>
          <a:xfrm>
            <a:off x="1179576" y="4800600"/>
            <a:ext cx="164592" cy="164592"/>
          </a:xfrm>
          <a:prstGeom prst="ellipse">
            <a:avLst/>
          </a:prstGeom>
          <a:solidFill>
            <a:srgbClr val="E08A4E"/>
          </a:solidFill>
          <a:ln/>
        </p:spPr>
      </p:sp>
      <p:sp>
        <p:nvSpPr>
          <p:cNvPr id="8" name="Shape 6"/>
          <p:cNvSpPr/>
          <p:nvPr/>
        </p:nvSpPr>
        <p:spPr>
          <a:xfrm>
            <a:off x="1472184" y="4800600"/>
            <a:ext cx="164592" cy="164592"/>
          </a:xfrm>
          <a:prstGeom prst="ellipse">
            <a:avLst/>
          </a:prstGeom>
          <a:solidFill>
            <a:srgbClr val="EFA63C"/>
          </a:solidFill>
          <a:ln/>
        </p:spPr>
      </p:sp>
      <p:sp>
        <p:nvSpPr>
          <p:cNvPr id="9" name="Shape 7"/>
          <p:cNvSpPr/>
          <p:nvPr/>
        </p:nvSpPr>
        <p:spPr>
          <a:xfrm>
            <a:off x="1764792" y="4800600"/>
            <a:ext cx="164592" cy="164592"/>
          </a:xfrm>
          <a:prstGeom prst="ellipse">
            <a:avLst/>
          </a:prstGeom>
          <a:solidFill>
            <a:srgbClr val="9FB86A"/>
          </a:solidFill>
          <a:ln/>
        </p:spPr>
      </p:sp>
      <p:sp>
        <p:nvSpPr>
          <p:cNvPr id="10" name="Shape 8"/>
          <p:cNvSpPr/>
          <p:nvPr/>
        </p:nvSpPr>
        <p:spPr>
          <a:xfrm>
            <a:off x="2057400" y="4800600"/>
            <a:ext cx="164592" cy="164592"/>
          </a:xfrm>
          <a:prstGeom prst="ellipse">
            <a:avLst/>
          </a:prstGeom>
          <a:solidFill>
            <a:srgbClr val="35C97D"/>
          </a:solidFill>
          <a:ln/>
        </p:spPr>
      </p:sp>
      <p:sp>
        <p:nvSpPr>
          <p:cNvPr id="11" name="Shape 9"/>
          <p:cNvSpPr/>
          <p:nvPr/>
        </p:nvSpPr>
        <p:spPr>
          <a:xfrm>
            <a:off x="2350008" y="4800600"/>
            <a:ext cx="164592" cy="164592"/>
          </a:xfrm>
          <a:prstGeom prst="ellipse">
            <a:avLst/>
          </a:prstGeom>
          <a:solidFill>
            <a:srgbClr val="35C97D"/>
          </a:solidFill>
          <a:ln/>
        </p:spPr>
      </p:sp>
      <p:sp>
        <p:nvSpPr>
          <p:cNvPr id="12" name="Text 10"/>
          <p:cNvSpPr/>
          <p:nvPr/>
        </p:nvSpPr>
        <p:spPr>
          <a:xfrm>
            <a:off x="2779776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decision, flipped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5852160"/>
            <a:ext cx="2066544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2FC7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585216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· Sustainability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5852160"/>
            <a:ext cx="2221992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43784" y="5852160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 Hackathon · 9 July 2026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48656" y="5852160"/>
            <a:ext cx="1755648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58521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 · Team of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$50B blind spot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downtime is one of the most expensive, most validated pains in industry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4754880" cy="4206240"/>
          </a:xfrm>
          <a:prstGeom prst="roundRect">
            <a:avLst>
              <a:gd name="adj" fmla="val 1957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2860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94360" y="36118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every year to unplanned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downtime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5029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estimate · hundreds of $K per hour in a large plant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5715000" cy="4206240"/>
          </a:xfrm>
          <a:prstGeom prst="roundRect">
            <a:avLst>
              <a:gd name="adj" fmla="val 1957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72200" y="2057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nobody fills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17920" y="2880360"/>
            <a:ext cx="146304" cy="146304"/>
          </a:xfrm>
          <a:prstGeom prst="ellipse">
            <a:avLst/>
          </a:prstGeom>
          <a:solidFill>
            <a:srgbClr val="35C97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tools PREDICT.  </a:t>
            </a:r>
            <a:pPr indent="0" marL="0">
              <a:buNone/>
            </a:pPr>
            <a:r>
              <a:rPr lang="en-US" sz="1450" i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“Bearing 7 fails in 40 cycles.”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3703320"/>
            <a:ext cx="146304" cy="146304"/>
          </a:xfrm>
          <a:prstGeom prst="ellipse">
            <a:avLst/>
          </a:prstGeom>
          <a:solidFill>
            <a:srgbClr val="F054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5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they stop.  </a:t>
            </a:r>
            <a:pPr indent="0" marL="0">
              <a:buNone/>
            </a:pPr>
            <a:r>
              <a:rPr lang="en-US" sz="14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guesses the fix, the cost, the timing.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17220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decision gap is our wedge.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is commodity. Deciding is the prize.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moat is — and where we spend our 24 hours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vendor can do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open-source library can do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novelty. No patent. No moat.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1F2E3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+ PROVE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single best action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it, justify it, prove it RED → GREEN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5C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our IP. This is our patent.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prize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signal to decision in one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imagines · deterministic rules decide — that is what keeps us explainable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12371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92A4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2371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stream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0735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98479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16490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2FC7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6490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98479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152759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cycles to failure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8479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4854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802598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20609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9A8C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0609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02598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756878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02598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8973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406717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2FC7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2472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06717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360997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per action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06717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73091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7010835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28847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EFA6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8847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10835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965115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Götze ranking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10835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77210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614954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32966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92A4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32966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614954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8569234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→ GREEN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614954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981329" y="320040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0219073" y="2011680"/>
            <a:ext cx="1348087" cy="2834640"/>
          </a:xfrm>
          <a:prstGeom prst="roundRect">
            <a:avLst>
              <a:gd name="adj" fmla="val 610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637085" y="2286000"/>
            <a:ext cx="512064" cy="512064"/>
          </a:xfrm>
          <a:prstGeom prst="ellipse">
            <a:avLst/>
          </a:prstGeom>
          <a:solidFill>
            <a:srgbClr val="1F2E37"/>
          </a:solidFill>
          <a:ln w="19050">
            <a:solidFill>
              <a:srgbClr val="EFA6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637085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219073" y="2971800"/>
            <a:ext cx="13480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10173353" y="3310128"/>
            <a:ext cx="14395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219073" y="4297680"/>
            <a:ext cx="13480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" y="5440680"/>
            <a:ext cx="137160" cy="137160"/>
          </a:xfrm>
          <a:prstGeom prst="ellipse">
            <a:avLst/>
          </a:prstGeom>
          <a:solidFill>
            <a:srgbClr val="2FC7B5"/>
          </a:solidFill>
          <a:ln/>
        </p:spPr>
      </p:sp>
      <p:sp>
        <p:nvSpPr>
          <p:cNvPr id="53" name="Text 51"/>
          <p:cNvSpPr/>
          <p:nvPr/>
        </p:nvSpPr>
        <p:spPr>
          <a:xfrm>
            <a:off x="795528" y="5358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606040" y="5440680"/>
            <a:ext cx="137160" cy="137160"/>
          </a:xfrm>
          <a:prstGeom prst="ellipse">
            <a:avLst/>
          </a:prstGeom>
          <a:solidFill>
            <a:srgbClr val="9A8CF5"/>
          </a:solidFill>
          <a:ln/>
        </p:spPr>
      </p:sp>
      <p:sp>
        <p:nvSpPr>
          <p:cNvPr id="55" name="Text 53"/>
          <p:cNvSpPr/>
          <p:nvPr/>
        </p:nvSpPr>
        <p:spPr>
          <a:xfrm>
            <a:off x="2807208" y="5358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agent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617720" y="5440680"/>
            <a:ext cx="137160" cy="137160"/>
          </a:xfrm>
          <a:prstGeom prst="ellipse">
            <a:avLst/>
          </a:prstGeom>
          <a:solidFill>
            <a:srgbClr val="EFA63C"/>
          </a:solidFill>
          <a:ln/>
        </p:spPr>
      </p:sp>
      <p:sp>
        <p:nvSpPr>
          <p:cNvPr id="57" name="Text 55"/>
          <p:cNvSpPr/>
          <p:nvPr/>
        </p:nvSpPr>
        <p:spPr>
          <a:xfrm>
            <a:off x="4818888" y="5358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629400" y="5440680"/>
            <a:ext cx="137160" cy="137160"/>
          </a:xfrm>
          <a:prstGeom prst="ellipse">
            <a:avLst/>
          </a:prstGeom>
          <a:solidFill>
            <a:srgbClr val="92A4B1"/>
          </a:solidFill>
          <a:ln/>
        </p:spPr>
      </p:sp>
      <p:sp>
        <p:nvSpPr>
          <p:cNvPr id="59" name="Text 57"/>
          <p:cNvSpPr/>
          <p:nvPr/>
        </p:nvSpPr>
        <p:spPr>
          <a:xfrm>
            <a:off x="6830568" y="53583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Götze Decision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patentable core — sports substitution maths, repointed at the factory floor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analogy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Football:  </a:t>
            </a:r>
            <a:pPr indent="0" marL="0">
              <a:buNone/>
            </a:pPr>
            <a:r>
              <a:rPr lang="en-US" sz="14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a substitution by how much it improves the result.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Factory:  </a:t>
            </a:r>
            <a:pPr indent="0" marL="0">
              <a:buNone/>
            </a:pPr>
            <a:r>
              <a:rPr lang="en-US" sz="145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corrective action IS a substitution. Sometimes the best move isn't touching the failing part at all.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C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maths. Same engine.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F2E3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DF3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score(a) =  Σ wₖ · Δkₖ(a) · conf  ÷  cost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8368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 comes from the Twin — the timeline the data never recorded.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3886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35C9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886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C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3886200"/>
            <a:ext cx="978408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2FC7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3886200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05672" y="3886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EFA6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05672" y="3886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84664" y="38862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84664" y="3886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one of the four terms — Sustainability, baked in.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83680" y="5074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recalibrate each cycle — the engine self-improves.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RED to GREEN, on real NASA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engine — do nothing dies at cycle 45; the chosen action survives past 80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4297680"/>
          </a:xfrm>
          <a:prstGeom prst="roundRect">
            <a:avLst>
              <a:gd name="adj" fmla="val 1915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2057400"/>
          <a:ext cx="10424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worth filing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integration of existing tools — a novel, defensible decision method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492240" cy="4114800"/>
          </a:xfrm>
          <a:prstGeom prst="roundRect">
            <a:avLst>
              <a:gd name="adj" fmla="val 200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claim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remaining life from run-to-failure telemetry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root cause on a causal asset graph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action by counterfactual marginal impact on life × throughput × energy ÷ cost, via a surrogate twin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by confidence-weighted multi-agent consensus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Recalibrate the scoring weights from realized outcomes — a closed loop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0"/>
            <a:ext cx="4389120" cy="4114800"/>
          </a:xfrm>
          <a:prstGeom prst="roundRect">
            <a:avLst>
              <a:gd name="adj" fmla="val 2000"/>
            </a:avLst>
          </a:prstGeom>
          <a:solidFill>
            <a:srgbClr val="1F2E3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lands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1,706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498080" y="34747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patents filed by LTTS — 237 in AI &amp; GenAI in FY26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4297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LTTS is openly competing on AI IP. A filable method is exactly what leadership wants to see.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where LTTS is betting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the Lakshya-31 strategy, top to bottom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182880" cy="182880"/>
          </a:xfrm>
          <a:prstGeom prst="ellipse">
            <a:avLst/>
          </a:prstGeom>
          <a:solidFill>
            <a:srgbClr val="2FC7B5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30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Highest-margin, fastest-growing segment — our objective is energy-aware by 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2258568"/>
            <a:ext cx="182880" cy="182880"/>
          </a:xfrm>
          <a:prstGeom prst="ellipse">
            <a:avLst/>
          </a:prstGeom>
          <a:solidFill>
            <a:srgbClr val="EFA63C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130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6 Big Bets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2697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Modernization · Industrial Automation · Software Platforms in EI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97764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61688"/>
            <a:ext cx="182880" cy="182880"/>
          </a:xfrm>
          <a:prstGeom prst="ellipse">
            <a:avLst/>
          </a:prstGeom>
          <a:solidFill>
            <a:srgbClr val="9A8CF5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4233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+ Physical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agents + edge-ready decisions across the engineering lifecycle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97764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4361688"/>
            <a:ext cx="182880" cy="182880"/>
          </a:xfrm>
          <a:prstGeom prst="ellipse">
            <a:avLst/>
          </a:prstGeom>
          <a:solidFill>
            <a:srgbClr val="35C97D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4233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Databricks-ready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0" y="4800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Mirrors the LTTS–Databricks industrial-AI partnership — built free, deploys there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prescriptive-maintenance benchmarks — plus a delta we measure live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54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9436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downtime ↓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10–40%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38912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cost ↓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83880" y="1920240"/>
            <a:ext cx="3383280" cy="2468880"/>
          </a:xfrm>
          <a:prstGeom prst="roundRect">
            <a:avLst>
              <a:gd name="adj" fmla="val 3333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5C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20–40%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8388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life ↑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4663440"/>
            <a:ext cx="10972800" cy="1280160"/>
          </a:xfrm>
          <a:prstGeom prst="roundRect">
            <a:avLst>
              <a:gd name="adj" fmla="val 6429"/>
            </a:avLst>
          </a:prstGeom>
          <a:solidFill>
            <a:srgbClr val="1F2E3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892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incremental ROI:  </a:t>
            </a:r>
            <a:pPr indent="0" marL="0">
              <a:buNone/>
            </a:pPr>
            <a:r>
              <a:rPr lang="en-US" sz="14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decision-quality delta. Replaying real C-MAPSS history, we show how many failures the Götze-chosen action prevents that the naive choice misses — a measured number, not a claim.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ranges are industry estimates.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build. Four to win.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hours, zero cloud bill, parallel ownership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plan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  Foundation: data + RUL + app shell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3–8   The Twin — a SIMPLE surrogate (the risk)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8–14  Götze engine + agents wired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14–20 The proof: RED → GREEN replay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 Pitch + rehearse the trap answer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F2E37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A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Sourav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brain: data, prediction, Twin, Götze engine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dev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 shell + live control panel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 1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money shot: RED vs GREEN curve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 2 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asset-health dashboard + score bars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507492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5074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5074920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507492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06256" y="507492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06256" y="5074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957816" y="507492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1F2E37"/>
          </a:solidFill>
          <a:ln w="12700">
            <a:solidFill>
              <a:srgbClr val="92A4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57816" y="50749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the failure.  </a:t>
            </a:r>
            <a:pPr algn="ctr" indent="0" marL="0">
              <a:buNone/>
            </a:pPr>
            <a:r>
              <a:rPr lang="en-US" sz="3800" b="1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fix.  </a:t>
            </a:r>
            <a:pPr algn="ctr" indent="0" marL="0">
              <a:buNone/>
            </a:pPr>
            <a:r>
              <a:rPr lang="en-US" sz="380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94360" y="3383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2A4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PlantMind  ·  powered by the Götze Decision Engine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337560" y="41605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19262E"/>
          </a:solidFill>
          <a:ln/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4389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C7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</a:t>
            </a:r>
            <a:pPr algn="ctr" indent="0" marL="0">
              <a:buNone/>
            </a:pPr>
            <a:r>
              <a:rPr lang="en-US" sz="1450" dirty="0">
                <a:solidFill>
                  <a:srgbClr val="EDF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sharpen with us before 9 July. Where does this land for you?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74920" y="5669280"/>
            <a:ext cx="146304" cy="146304"/>
          </a:xfrm>
          <a:prstGeom prst="ellipse">
            <a:avLst/>
          </a:prstGeom>
          <a:solidFill>
            <a:srgbClr val="F0544A"/>
          </a:solidFill>
          <a:ln/>
        </p:spPr>
      </p:sp>
      <p:sp>
        <p:nvSpPr>
          <p:cNvPr id="7" name="Shape 5"/>
          <p:cNvSpPr/>
          <p:nvPr/>
        </p:nvSpPr>
        <p:spPr>
          <a:xfrm>
            <a:off x="5367528" y="5669280"/>
            <a:ext cx="146304" cy="146304"/>
          </a:xfrm>
          <a:prstGeom prst="ellipse">
            <a:avLst/>
          </a:prstGeom>
          <a:solidFill>
            <a:srgbClr val="F0544A"/>
          </a:solidFill>
          <a:ln/>
        </p:spPr>
      </p:sp>
      <p:sp>
        <p:nvSpPr>
          <p:cNvPr id="8" name="Shape 6"/>
          <p:cNvSpPr/>
          <p:nvPr/>
        </p:nvSpPr>
        <p:spPr>
          <a:xfrm>
            <a:off x="5660136" y="5669280"/>
            <a:ext cx="146304" cy="146304"/>
          </a:xfrm>
          <a:prstGeom prst="ellipse">
            <a:avLst/>
          </a:prstGeom>
          <a:solidFill>
            <a:srgbClr val="E08A4E"/>
          </a:solidFill>
          <a:ln/>
        </p:spPr>
      </p:sp>
      <p:sp>
        <p:nvSpPr>
          <p:cNvPr id="9" name="Shape 7"/>
          <p:cNvSpPr/>
          <p:nvPr/>
        </p:nvSpPr>
        <p:spPr>
          <a:xfrm>
            <a:off x="5952744" y="5669280"/>
            <a:ext cx="146304" cy="146304"/>
          </a:xfrm>
          <a:prstGeom prst="ellipse">
            <a:avLst/>
          </a:prstGeom>
          <a:solidFill>
            <a:srgbClr val="EFA63C"/>
          </a:solidFill>
          <a:ln/>
        </p:spPr>
      </p:sp>
      <p:sp>
        <p:nvSpPr>
          <p:cNvPr id="10" name="Shape 8"/>
          <p:cNvSpPr/>
          <p:nvPr/>
        </p:nvSpPr>
        <p:spPr>
          <a:xfrm>
            <a:off x="6245352" y="5669280"/>
            <a:ext cx="146304" cy="146304"/>
          </a:xfrm>
          <a:prstGeom prst="ellipse">
            <a:avLst/>
          </a:prstGeom>
          <a:solidFill>
            <a:srgbClr val="9FB86A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5669280"/>
            <a:ext cx="146304" cy="146304"/>
          </a:xfrm>
          <a:prstGeom prst="ellipse">
            <a:avLst/>
          </a:prstGeom>
          <a:solidFill>
            <a:srgbClr val="35C97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30568" y="5669280"/>
            <a:ext cx="146304" cy="146304"/>
          </a:xfrm>
          <a:prstGeom prst="ellipse">
            <a:avLst/>
          </a:prstGeom>
          <a:solidFill>
            <a:srgbClr val="35C97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PlantMind — EI Hackathon Pitch</dc:title>
  <dc:subject>PptxGenJS Presentation</dc:subject>
  <dc:creator>Sourav Dutta</dc:creator>
  <cp:lastModifiedBy>Sourav Dutta</cp:lastModifiedBy>
  <cp:revision>1</cp:revision>
  <dcterms:created xsi:type="dcterms:W3CDTF">2026-06-19T02:31:18Z</dcterms:created>
  <dcterms:modified xsi:type="dcterms:W3CDTF">2026-06-19T02:31:18Z</dcterms:modified>
</cp:coreProperties>
</file>